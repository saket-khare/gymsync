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68580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98448" y="5669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GymSync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Go-to-Market Strategy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GymSync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Onboarding &amp; Member Intelligence Platform for Indian Gyms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&amp; Tier 3 City Focus  ·  B2B SaaS  ·  AI-Powered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fitness industry is one of the world's fastest-growing — and it's massively underserved by software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9202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53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₹18,700 Cr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751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25880"/>
            <a:ext cx="19202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53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CAGR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06040" y="19751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to 2030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19202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353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96,000+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754880" y="19751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 in India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325880"/>
            <a:ext cx="19202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353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903720" y="19751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Tier 2/3 Gyms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1508760"/>
          </a:xfrm>
          <a:prstGeom prst="rect">
            <a:avLst/>
          </a:prstGeom>
          <a:solidFill>
            <a:srgbClr val="0A1929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090672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15568" y="30358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Nobody Has Filled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8368" y="340156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66,000+ Tier 2/3 gyms</a:t>
            </a:r>
            <a:pPr indent="0" marL="0">
              <a:buNone/>
            </a:pPr>
            <a:r>
              <a:rPr lang="en-US" sz="12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 members on WhatsApp &amp; paper. Global SaaS tools cost ₹6,600–₹16,000/month — 5× above what these gyms will pay. Indian tools exist but lack AI.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GymSync is built exactly for this gap.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GymSync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AI-powered onboarding &amp; member intelligence platform — 6 core capabilities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56032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Onboarding Portal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" y="1874520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gym gets gymsync.com/their-name. A beautiful 6-step mobile form members actually enjoy.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298448"/>
            <a:ext cx="256032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8132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22192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Meal Plans (GPT-4o)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401568" y="1874520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7-day Indian meal plan generated instantly per member from their profile data.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43600" y="1298448"/>
            <a:ext cx="256032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48132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65392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Brief PDF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144768" y="1874520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AI summary with upsell signal, red flags, and conversation starters — ready before session 1.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3090672"/>
            <a:ext cx="256032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27355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8992" y="32552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Email Sequences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58368" y="3666744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+ Day 3 check-in + Day 7 push + Day 30 review — all automated, no manual work.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00400" y="3090672"/>
            <a:ext cx="256032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27355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22192" y="32552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401568" y="3666744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member table with filters, health flags, email status tracking, and expandable profiles.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943600" y="3090672"/>
            <a:ext cx="256032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273552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65392" y="325526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Intelligence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144768" y="3666744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every member HIGH/MEDIUM/LOW for PT upsell likelihood based on their goals &amp; commitment data.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&amp; Their Pain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Tier 2/3 gym owner — managing 150–400 members with zero software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3840480" cy="3337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447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7452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8562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gym owner, Tier 2/3 city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042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2286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150–400 active members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3405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7552" y="2715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₹8,000–14,000/year average membership fee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6382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87552" y="31455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₹15–50 lakh/year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59359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87552" y="35753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Staff: 2–5 people (owner + trainers)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023360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7552" y="4005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stack: WhatsApp + paper register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4572000" y="1298448"/>
            <a:ext cx="4114800" cy="3337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2"/>
          <p:cNvSpPr/>
          <p:nvPr/>
        </p:nvSpPr>
        <p:spPr>
          <a:xfrm>
            <a:off x="4754880" y="1444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Pain Points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1856232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84064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annual member churn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5084064" y="2103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revenue leak; costs 5× more to replace</a:t>
            </a:r>
            <a:endParaRPr lang="en-US" sz="10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2404872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084064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follow-up</a:t>
            </a:r>
            <a:endParaRPr lang="en-US" sz="1150" dirty="0"/>
          </a:p>
        </p:txBody>
      </p:sp>
      <p:sp>
        <p:nvSpPr>
          <p:cNvPr id="26" name="Text 16"/>
          <p:cNvSpPr/>
          <p:nvPr/>
        </p:nvSpPr>
        <p:spPr>
          <a:xfrm>
            <a:off x="5084064" y="26517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drop off silently — no early warning</a:t>
            </a:r>
            <a:endParaRPr lang="en-US" sz="10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592" y="2953512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084064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onboarding = bad first impression</a:t>
            </a:r>
            <a:endParaRPr lang="en-US" sz="1150" dirty="0"/>
          </a:p>
        </p:txBody>
      </p:sp>
      <p:sp>
        <p:nvSpPr>
          <p:cNvPr id="29" name="Text 18"/>
          <p:cNvSpPr/>
          <p:nvPr/>
        </p:nvSpPr>
        <p:spPr>
          <a:xfrm>
            <a:off x="5084064" y="32004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forms, WhatsApp intake, zero personalisation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592" y="3502152"/>
            <a:ext cx="256032" cy="25603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084064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start sessions blind</a:t>
            </a:r>
            <a:endParaRPr lang="en-US" sz="1150" dirty="0"/>
          </a:p>
        </p:txBody>
      </p:sp>
      <p:sp>
        <p:nvSpPr>
          <p:cNvPr id="32" name="Text 20"/>
          <p:cNvSpPr/>
          <p:nvPr/>
        </p:nvSpPr>
        <p:spPr>
          <a:xfrm>
            <a:off x="5084064" y="37490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health history, goals, or injury info ready</a:t>
            </a:r>
            <a:endParaRPr lang="en-US" sz="10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6592" y="4050792"/>
            <a:ext cx="256032" cy="25603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084064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upsells missed daily</a:t>
            </a:r>
            <a:endParaRPr lang="en-US" sz="1150" dirty="0"/>
          </a:p>
        </p:txBody>
      </p:sp>
      <p:sp>
        <p:nvSpPr>
          <p:cNvPr id="35" name="Text 22"/>
          <p:cNvSpPr/>
          <p:nvPr/>
        </p:nvSpPr>
        <p:spPr>
          <a:xfrm>
            <a:off x="5084064" y="42976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to identify who is ready to buy more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owns the Tier 2/3 Indian gym market — the gap is wide open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3258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1325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Focus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13258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82496"/>
            <a:ext cx="8229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09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Mindbody (USA)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0320" y="17099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₹8,300–14,000/mo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1709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7099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17099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39696"/>
            <a:ext cx="8229600" cy="43891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67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Glofox (Ireland)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60320" y="2167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₹8,300–16,000/mo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167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167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167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market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596896"/>
            <a:ext cx="8229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24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 (USA)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60320" y="26243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₹6,600–10,400/mo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2624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624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2624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PT-only focus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054096"/>
            <a:ext cx="8229600" cy="43891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081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FitGymSoftware (IN)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560320" y="3081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₹1,500–10,000/mo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06240" y="3081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081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30815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AI, legacy UX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511296"/>
            <a:ext cx="8229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538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spreadsheets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560320" y="35387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0" y="3538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538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3538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968496"/>
            <a:ext cx="822960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995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GymSync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560320" y="39959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₹2,499–9,999/mo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20624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39959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 for it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98080" y="39959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The answer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GymSync is the only solution with full AI, Indian pricing, and Tier 2/3 city focus.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ways to monetise — starting with subscriptions, expanding into usage and affiliate revenue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65176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26464"/>
            <a:ext cx="713232" cy="237744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264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</a:rPr>
              <a:t>CORE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170078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SaaS Subscription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207568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₹2,499/mo — up to 50 members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23500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₹4,999/mo — up to 200 members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6243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₹9,999/mo — unlimited, white-label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298448"/>
            <a:ext cx="265176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2152" y="1426464"/>
            <a:ext cx="713232" cy="2377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4264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USAGE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02152" y="170078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Plan Regenerations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02152" y="207568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evolve — plateau, injury, goal change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02152" y="23500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credit packs to gyms: ₹49–₹99 per regen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02152" y="26243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tier includes 50 credits; Pro = unlimited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298448"/>
            <a:ext cx="265176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1426464"/>
            <a:ext cx="713232" cy="2377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4264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TIER GATE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82512" y="170078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Hot Leads Upsell Intel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82512" y="207568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already scores every member HIGH/MED/LOW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82512" y="23500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'Hot Leads' dashboard behind Growth/Pro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82512" y="26243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gym sell PT packages = direct owner ROI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145536"/>
            <a:ext cx="265176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" y="3273552"/>
            <a:ext cx="713232" cy="237744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2735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</a:rPr>
              <a:t>PRO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" y="354787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White-Label / Custom Domain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1792" y="39227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'Powered by GymSync' branding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" y="41970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(theirgym.com/onboard)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" y="4471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gyms &amp; chains will pay ₹9,999+/mo for this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37560" y="3145536"/>
            <a:ext cx="265176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502152" y="3273552"/>
            <a:ext cx="713232" cy="2377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02152" y="32735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AFFILIATE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02152" y="354787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Supplement Affiliates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502152" y="39227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already suggests supplements in meal plans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02152" y="41970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MuscleBlaze / MyProtein referral links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502152" y="4471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gets 5%, GymSync gets 5% per purchase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3145536"/>
            <a:ext cx="2651760" cy="1719072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82512" y="3273552"/>
            <a:ext cx="713232" cy="2377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32735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ROADMAP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82512" y="354787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Workout Plan Generation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382512" y="39227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second AI output (data already collected)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82512" y="41970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at Growth+ tier as key differentiator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82512" y="4471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platform stickiness dramatically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 — What's in Each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feature gates drive upgrades. Plans must be enforced in code, not just UI.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265176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35331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6824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01952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21945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members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505456"/>
            <a:ext cx="2322576" cy="18288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615184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25968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onboarding portal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96265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6112" y="294436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meal plan per member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31012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" y="32918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email sequences (30-day)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65760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" y="36393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sync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00507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6112" y="39867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GymSync branding visible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310128" y="1261872"/>
            <a:ext cx="2651760" cy="3566160"/>
          </a:xfrm>
          <a:prstGeom prst="rect">
            <a:avLst/>
          </a:prstGeom>
          <a:solidFill>
            <a:srgbClr val="0A2540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310128" y="1261872"/>
            <a:ext cx="265176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3310128" y="12618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474720" y="157276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3474720" y="19019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₹4,999</a:t>
            </a:r>
            <a:endParaRPr lang="en-US" sz="3000" dirty="0"/>
          </a:p>
        </p:txBody>
      </p:sp>
      <p:sp>
        <p:nvSpPr>
          <p:cNvPr id="26" name="Text 19"/>
          <p:cNvSpPr/>
          <p:nvPr/>
        </p:nvSpPr>
        <p:spPr>
          <a:xfrm>
            <a:off x="4754880" y="2048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3474720" y="24140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members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474720" y="2724912"/>
            <a:ext cx="2322576" cy="18288"/>
          </a:xfrm>
          <a:prstGeom prst="rect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283464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749040" y="28163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182112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749040" y="316382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workout plans (roadmap)</a:t>
            </a:r>
            <a:endParaRPr lang="en-US" sz="10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529584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749040" y="35112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Brief PDFs</a:t>
            </a:r>
            <a:endParaRPr lang="en-US" sz="10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877056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749040" y="385876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Leads upsell dashboard</a:t>
            </a:r>
            <a:endParaRPr lang="en-US" sz="10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4224528"/>
            <a:ext cx="201168" cy="20116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3749040" y="42062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sequence customisation</a:t>
            </a:r>
            <a:endParaRPr lang="en-US" sz="10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0" y="4572000"/>
            <a:ext cx="201168" cy="20116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749040" y="45537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41" name="Shape 28"/>
          <p:cNvSpPr/>
          <p:nvPr/>
        </p:nvSpPr>
        <p:spPr>
          <a:xfrm>
            <a:off x="6163056" y="1261872"/>
            <a:ext cx="265176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29"/>
          <p:cNvSpPr/>
          <p:nvPr/>
        </p:nvSpPr>
        <p:spPr>
          <a:xfrm>
            <a:off x="6327648" y="135331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43" name="Text 30"/>
          <p:cNvSpPr/>
          <p:nvPr/>
        </p:nvSpPr>
        <p:spPr>
          <a:xfrm>
            <a:off x="6327648" y="16824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₹9,999</a:t>
            </a:r>
            <a:endParaRPr lang="en-US" sz="3000" dirty="0"/>
          </a:p>
        </p:txBody>
      </p:sp>
      <p:sp>
        <p:nvSpPr>
          <p:cNvPr id="44" name="Text 31"/>
          <p:cNvSpPr/>
          <p:nvPr/>
        </p:nvSpPr>
        <p:spPr>
          <a:xfrm>
            <a:off x="7607808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45" name="Text 32"/>
          <p:cNvSpPr/>
          <p:nvPr/>
        </p:nvSpPr>
        <p:spPr>
          <a:xfrm>
            <a:off x="6327648" y="21945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members</a:t>
            </a:r>
            <a:endParaRPr lang="en-US" sz="1050" dirty="0"/>
          </a:p>
        </p:txBody>
      </p:sp>
      <p:sp>
        <p:nvSpPr>
          <p:cNvPr id="46" name="Shape 33"/>
          <p:cNvSpPr/>
          <p:nvPr/>
        </p:nvSpPr>
        <p:spPr>
          <a:xfrm>
            <a:off x="6327648" y="2505456"/>
            <a:ext cx="2322576" cy="1828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2615184"/>
            <a:ext cx="201168" cy="201168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601968" y="25968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00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48" y="2962656"/>
            <a:ext cx="201168" cy="201168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6601968" y="294436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(remove branding)</a:t>
            </a:r>
            <a:endParaRPr lang="en-US" sz="1000" dirty="0"/>
          </a:p>
        </p:txBody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7648" y="3310128"/>
            <a:ext cx="201168" cy="201168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6601968" y="32918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</a:t>
            </a:r>
            <a:endParaRPr lang="en-US" sz="1000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7648" y="3657600"/>
            <a:ext cx="201168" cy="201168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6601968" y="36393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regeneration credits (unlimited)</a:t>
            </a:r>
            <a:endParaRPr lang="en-US" sz="1000" dirty="0"/>
          </a:p>
        </p:txBody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7648" y="4005072"/>
            <a:ext cx="201168" cy="201168"/>
          </a:xfrm>
          <a:prstGeom prst="rect">
            <a:avLst/>
          </a:prstGeom>
        </p:spPr>
      </p:pic>
      <p:sp>
        <p:nvSpPr>
          <p:cNvPr id="56" name="Text 38"/>
          <p:cNvSpPr/>
          <p:nvPr/>
        </p:nvSpPr>
        <p:spPr>
          <a:xfrm>
            <a:off x="6601968" y="398678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benchmarking</a:t>
            </a:r>
            <a:endParaRPr lang="en-US" sz="1000" dirty="0"/>
          </a:p>
        </p:txBody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4352544"/>
            <a:ext cx="201168" cy="201168"/>
          </a:xfrm>
          <a:prstGeom prst="rect">
            <a:avLst/>
          </a:prstGeom>
        </p:spPr>
      </p:pic>
      <p:sp>
        <p:nvSpPr>
          <p:cNvPr id="58" name="Text 39"/>
          <p:cNvSpPr/>
          <p:nvPr/>
        </p:nvSpPr>
        <p:spPr>
          <a:xfrm>
            <a:off x="6601968" y="433425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+ dedicated support</a:t>
            </a:r>
            <a:endParaRPr lang="en-US" sz="1000" dirty="0"/>
          </a:p>
        </p:txBody>
      </p:sp>
      <p:sp>
        <p:nvSpPr>
          <p:cNvPr id="59" name="Text 40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Priority: Enforce member caps in code — the upgrade wall IS your conversion engine.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Can This Business Work?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model showing the path to ₹1 Cr ARR and beyond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651760" cy="2194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14081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gyms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₹1.0L/mo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₹12L ARR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834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Mix: 15 Starter + 8 Growth + 2 Pro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37560" y="1298448"/>
            <a:ext cx="2651760" cy="2194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20440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140817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gyms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520440" y="2148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₹3.6L/mo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52044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₹43L ARR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20440" y="2834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Mix: 45 Starter + 25 Growth + 10 Pro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17920" y="1298448"/>
            <a:ext cx="2651760" cy="219456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400800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40817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gyms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400800" y="2148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₹9.2L/mo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0080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 Cr ARR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00800" y="2834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Mix: 110 Starter + 65 Growth + 25 Pro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solidFill>
            <a:srgbClr val="0A1929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58368" y="37490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 Owner ROI Argument — Why They'll Pay</a:t>
            </a:r>
            <a:endParaRPr lang="en-US" sz="13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5137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2688" y="413308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 2 gym with 250 members at ₹10,000/year = ₹25L revenue</a:t>
            </a:r>
            <a:endParaRPr lang="en-US" sz="11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407408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32688" y="43891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annual churn = 75 members lost. Retaining just 5 more = ₹50,000 saved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663440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2688" y="46451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GymSync at ₹4,999/mo = ₹60,000/year. Saves 5+ members = self-funding on day 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→ demo-led conversion → viral distribution through member-facing branding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40233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63040"/>
            <a:ext cx="502920" cy="50292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43584" y="14813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43584" y="17739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8483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Target: Instagram gym accounts in Tier 2/3 cities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3591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DM owners with 'your members get a personalised meal plan in 5 minutes' hook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6334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Offer 14-day free trial, no credit card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1298448"/>
            <a:ext cx="40233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59552" y="14813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= the Close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59552" y="17739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74336" y="208483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Live demo: owner sees their own member fill the form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74336" y="23591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5 mins later, branded PDF arrives in member's inbox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74336" y="26334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That moment is worth more than any sales pitch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72968"/>
            <a:ext cx="40233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337560"/>
            <a:ext cx="502920" cy="50292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43584" y="33558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Viral Loop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43584" y="3648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39593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'Powered by GymSync' on every member form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42336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Every member across all gyms sees it — some own gyms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45079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White-label upsell converts the embarrassed premium gyms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3172968"/>
            <a:ext cx="40233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337560"/>
            <a:ext cx="502920" cy="50292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9552" y="33558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= Referrals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59552" y="3648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74336" y="39593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Happy gym owners refer other owners (tight community)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74336" y="42336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Add a referral programme: 1 month free per new gym signed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74336" y="45079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Target gym owner associations &amp; fitness communities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 Next — Prioritised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implementation that maximises revenue impact for each hour of dev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8229600" cy="676656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384048" cy="676656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84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#1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Enforcement + Upgrade Wall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" y="1645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caps must be enforced in code. When a Starter gym hits 50 members, block new submissions and show an upgrade prompt. This is your conversion engine.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44768" y="13716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2–3 days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44768" y="16093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Critical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79792" y="1389888"/>
            <a:ext cx="859536" cy="256032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9792" y="138988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IMMEDIATE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048256"/>
            <a:ext cx="8229600" cy="676656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048256"/>
            <a:ext cx="384048" cy="676656"/>
          </a:xfrm>
          <a:prstGeom prst="rect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48256"/>
            <a:ext cx="384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#2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Leads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23957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members flagged HIGH for PT upsell. The upsellSignal is already in your TrainerBrief schema. Build a filtered tab showing uncontacted high-signal members.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44768" y="21214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3–4 days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44768" y="23591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79792" y="2139696"/>
            <a:ext cx="859536" cy="256032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9792" y="213969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GROWTH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798064"/>
            <a:ext cx="8229600" cy="676656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798064"/>
            <a:ext cx="384048" cy="676656"/>
          </a:xfrm>
          <a:prstGeom prst="rect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98064"/>
            <a:ext cx="384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#3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" y="2871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Plan 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9264" y="31455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data is there — experience level, days available, equipment, injuries. Add a second AI output alongside the meal plan. Gate at Growth+ as the hero feature.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44768" y="28712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4–5 days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44768" y="31089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79792" y="2889504"/>
            <a:ext cx="859536" cy="256032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288950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GROWTH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547872"/>
            <a:ext cx="8229600" cy="676656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547872"/>
            <a:ext cx="384048" cy="676656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47872"/>
            <a:ext cx="384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#4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9264" y="3621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Regeneration Credits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9264" y="3895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gym owners trigger a new meal/workout plan for evolved members. Sell credit packs or bundle into tiers. Adds a consumption revenue layer on top of subscriptions.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44768" y="3621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2 days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44768" y="3858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79792" y="3639312"/>
            <a:ext cx="859536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9792" y="363931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PRO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297680"/>
            <a:ext cx="8229600" cy="676656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4297680"/>
            <a:ext cx="384048" cy="67665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97680"/>
            <a:ext cx="384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#5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9264" y="4370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Affiliate Links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69264" y="46451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MuscleBlaze/MyProtein referral links in the meal plan email. supplementSuggestions is already generated — just add tracked links. Passive revenue stream.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44768" y="43708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1 day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44768" y="46085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79792" y="4389120"/>
            <a:ext cx="859536" cy="25603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79792" y="438912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PASSIVE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200400"/>
            <a:ext cx="2286000" cy="22860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in One Sentence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768096"/>
            <a:ext cx="73152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4124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66,000 Tier 2/3 gyms. No good software. GymSync is the AI-first answer.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70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#1 pain: member churn &amp; retention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470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0368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differentiates it from every Indian competitor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0545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the market — ₹2,499 to ₹9,999/mo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0545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30368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Multi-stream revenue: subscriptions + usage + affiliates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6382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32688" y="3127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'Powered by GymSync' on every form = organic growth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163824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30368" y="3127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₹1 Cr ARR in 18 months with 200 gyms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GymSync  ·  saketkhare2000@gmail.com  ·  gymsync.app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GymSync – Business Model</dc:title>
  <dc:subject>PptxGenJS Presentation</dc:subject>
  <dc:creator>GymSync</dc:creator>
  <cp:lastModifiedBy>GymSync</cp:lastModifiedBy>
  <cp:revision>1</cp:revision>
  <dcterms:created xsi:type="dcterms:W3CDTF">2026-03-03T09:43:22Z</dcterms:created>
  <dcterms:modified xsi:type="dcterms:W3CDTF">2026-03-03T09:43:22Z</dcterms:modified>
</cp:coreProperties>
</file>